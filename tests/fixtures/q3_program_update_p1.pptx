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Kiosks</c:v>
                </c:pt>
                <c:pt idx="1">
                  <c:v>Filters</c:v>
                </c:pt>
                <c:pt idx="2">
                  <c:v>Training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480</c:v>
                </c:pt>
                <c:pt idx="1">
                  <c:v>120</c:v>
                </c:pt>
                <c:pt idx="2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Kiosks</c:v>
                </c:pt>
                <c:pt idx="1">
                  <c:v>Filters</c:v>
                </c:pt>
                <c:pt idx="2">
                  <c:v>Training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455</c:v>
                </c:pt>
                <c:pt idx="1">
                  <c:v>131</c:v>
                </c:pt>
                <c:pt idx="2">
                  <c:v>41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  <a:latin typeface="Arial"/>
              </a:rPr>
              <a:t>Q3 Program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Community Water Access Program,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"/>
              </a:rPr>
              <a:t>Where we are</a:t>
            </a:r>
          </a:p>
          <a:p>
            <a:pPr lvl="1"/>
            <a:r>
              <a:rPr>
                <a:latin typeface="Calibri"/>
              </a:rPr>
              <a:t>Kiosk rollout status</a:t>
            </a:r>
          </a:p>
          <a:p>
            <a:pPr lvl="1"/>
            <a:r>
              <a:rPr>
                <a:latin typeface="Calibri"/>
              </a:rPr>
              <a:t>Usage and downtime</a:t>
            </a:r>
          </a:p>
          <a:p>
            <a:pPr lvl="1"/>
            <a:r>
              <a:rPr>
                <a:latin typeface="Calibri"/>
              </a:rPr>
              <a:t>Budget</a:t>
            </a:r>
          </a:p>
          <a:p>
            <a:pPr lvl="1"/>
            <a:r>
              <a:rPr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A"/>
                </a:solidFill>
                <a:latin typeface="Times New Roman"/>
              </a:rPr>
              <a:t>Kiosk usage by district</a:t>
            </a:r>
          </a:p>
        </p:txBody>
      </p:sp>
      <p:pic>
        <p:nvPicPr>
          <p:cNvPr id="3" name="Picture 2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182880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3333"/>
                </a:solidFill>
                <a:latin typeface="Verdana"/>
              </a:rPr>
              <a:t>Filter shortages: 62% of downtime days</a:t>
            </a:r>
          </a:p>
          <a:p>
            <a:r>
              <a:rPr sz="2000">
                <a:solidFill>
                  <a:srgbClr val="C00000"/>
                </a:solidFill>
                <a:latin typeface="Comic Sans MS"/>
              </a:rPr>
              <a:t>Pump faults: 23%</a:t>
            </a:r>
          </a:p>
          <a:p>
            <a:r>
              <a:rPr sz="2000">
                <a:solidFill>
                  <a:srgbClr val="FF0000"/>
                </a:solidFill>
                <a:latin typeface="Comic Sans MS"/>
              </a:rPr>
              <a:t>Power outages: 15%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E75B6"/>
                </a:solidFill>
                <a:latin typeface="Arial"/>
              </a:rPr>
              <a:t>Downtime causes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  <a:latin typeface="Calibri Light"/>
              </a:rPr>
              <a:t>Budget to date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571500"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Spent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Kiosks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$480k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$455k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Filters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$120k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$131k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$60k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$41k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146304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03864"/>
                </a:solidFill>
                <a:latin typeface="Arial Black"/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three-month filter reserve</a:t>
            </a:r>
          </a:p>
          <a:p>
            <a:r>
              <a:rPr>
                <a:solidFill>
                  <a:srgbClr val="595959"/>
                </a:solidFill>
                <a:latin typeface="Segoe UI"/>
              </a:rPr>
              <a:t>Approve 2027 expansion budget</a:t>
            </a:r>
          </a:p>
          <a:p>
            <a:r>
              <a:rPr>
                <a:solidFill>
                  <a:srgbClr val="595959"/>
                </a:solidFill>
                <a:latin typeface="Segoe UI"/>
              </a:rPr>
              <a:t>Report back in December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